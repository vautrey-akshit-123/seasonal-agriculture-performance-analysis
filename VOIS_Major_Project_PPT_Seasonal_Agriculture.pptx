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0"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761952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0365155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983295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71245148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050621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5459082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4722850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304313904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smtClean="0"/>
              <a:pPr/>
              <a:t>9/9/2026</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9229352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433604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8247242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279669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96983681"/>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3998781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0062739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3834020121"/>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36860118"/>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3763581824"/>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411704211"/>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9289311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21618921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smtClean="0"/>
              <a:pPr/>
              <a:t>‹#›</a:t>
            </a:fld>
            <a:endParaRPr lang="en-US" dirty="0"/>
          </a:p>
        </p:txBody>
      </p:sp>
      <p:sp>
        <p:nvSpPr>
          <p:cNvPr id="7" name="Date Placeholder 3">
            <a:extLst>
              <a:ext uri="{FF2B5EF4-FFF2-40B4-BE49-F238E27FC236}">
                <a16:creationId xmlns:a16="http://schemas.microsoft.com/office/drawing/2014/main" id="{1AB2ABE6-DB70-FA91-8D5D-EB80C8206EBC}"/>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8" name="Footer Placeholder 4">
            <a:extLst>
              <a:ext uri="{FF2B5EF4-FFF2-40B4-BE49-F238E27FC236}">
                <a16:creationId xmlns:a16="http://schemas.microsoft.com/office/drawing/2014/main" id="{13128133-47C1-4D5F-928B-34E6270E2B5D}"/>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9" name="Slide Number Placeholder 5">
            <a:extLst>
              <a:ext uri="{FF2B5EF4-FFF2-40B4-BE49-F238E27FC236}">
                <a16:creationId xmlns:a16="http://schemas.microsoft.com/office/drawing/2014/main" id="{0A42FADF-FEEB-38D3-9376-3737E18620B3}"/>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1191747558"/>
      </p:ext>
    </p:extLst>
  </p:cSld>
  <p:clrMap bg1="dk1" tx1="lt1" bg2="dk2" tx2="lt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 id="2147483789" r:id="rId19"/>
    <p:sldLayoutId id="2147483790" r:id="rId20"/>
    <p:sldLayoutId id="2147483791" r:id="rId21"/>
    <p:sldLayoutId id="2147483690" r:id="rId22"/>
  </p:sldLayoutIdLst>
  <p:hf hdr="0" ftr="0" dt="0"/>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0.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038976" y="4151159"/>
            <a:ext cx="9573210" cy="793665"/>
          </a:xfrm>
        </p:spPr>
        <p:txBody>
          <a:bodyPr vert="horz" lIns="91440" tIns="45720" rIns="91440" bIns="45720" rtlCol="0" anchor="t">
            <a:noAutofit/>
          </a:bodyPr>
          <a:lstStyle/>
          <a:p>
            <a:pPr algn="r"/>
            <a:r>
              <a:rPr lang="en-US" b="0" dirty="0">
                <a:solidFill>
                  <a:schemeClr val="tx1"/>
                </a:solidFill>
                <a:latin typeface="Arial Black" panose="020B0A04020102020204" pitchFamily="34" charset="0"/>
                <a:cs typeface="Times New Roman" panose="02020603050405020304" pitchFamily="18" charset="0"/>
              </a:rPr>
              <a:t>COLLEGE NAME : ST. </a:t>
            </a:r>
            <a:r>
              <a:rPr lang="en-US" b="0" dirty="0" err="1">
                <a:solidFill>
                  <a:schemeClr val="tx1"/>
                </a:solidFill>
                <a:latin typeface="Arial Black" panose="020B0A04020102020204" pitchFamily="34" charset="0"/>
                <a:cs typeface="Times New Roman" panose="02020603050405020304" pitchFamily="18" charset="0"/>
              </a:rPr>
              <a:t>mary’s</a:t>
            </a:r>
            <a:r>
              <a:rPr lang="en-US" b="0" dirty="0">
                <a:solidFill>
                  <a:schemeClr val="tx1"/>
                </a:solidFill>
                <a:latin typeface="Arial Black" panose="020B0A04020102020204" pitchFamily="34" charset="0"/>
                <a:cs typeface="Times New Roman" panose="02020603050405020304" pitchFamily="18" charset="0"/>
              </a:rPr>
              <a:t> centenary college of management</a:t>
            </a:r>
            <a:endParaRPr lang="en-IN" b="0" dirty="0">
              <a:solidFill>
                <a:schemeClr val="tx1"/>
              </a:solidFill>
              <a:latin typeface="Arial Black" panose="020B0A04020102020204"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466531"/>
            <a:ext cx="10294437" cy="2860818"/>
          </a:xfrm>
        </p:spPr>
        <p:txBody>
          <a:bodyPr>
            <a:noAutofit/>
          </a:bodyPr>
          <a:lstStyle/>
          <a:p>
            <a:r>
              <a:rPr lang="en-IN" sz="5400" b="1" dirty="0">
                <a:highlight>
                  <a:srgbClr val="00FF00"/>
                </a:highlight>
                <a:latin typeface="Arial Black" panose="020B0A04020102020204" pitchFamily="34" charset="0"/>
              </a:rPr>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547734" y="6466482"/>
            <a:ext cx="2143125" cy="193040"/>
          </a:xfrm>
          <a:prstGeom prst="rect">
            <a:avLst/>
          </a:prstGeom>
          <a:solidFill>
            <a:schemeClr val="bg1"/>
          </a:solidFill>
        </p:spPr>
      </p:pic>
      <p:sp>
        <p:nvSpPr>
          <p:cNvPr id="3" name="TextBox 2">
            <a:extLst>
              <a:ext uri="{FF2B5EF4-FFF2-40B4-BE49-F238E27FC236}">
                <a16:creationId xmlns:a16="http://schemas.microsoft.com/office/drawing/2014/main" id="{17F04107-8754-E47D-3375-529E689711FA}"/>
              </a:ext>
            </a:extLst>
          </p:cNvPr>
          <p:cNvSpPr txBox="1"/>
          <p:nvPr/>
        </p:nvSpPr>
        <p:spPr>
          <a:xfrm>
            <a:off x="1856790" y="4684074"/>
            <a:ext cx="6423109" cy="369332"/>
          </a:xfrm>
          <a:prstGeom prst="rect">
            <a:avLst/>
          </a:prstGeom>
          <a:noFill/>
        </p:spPr>
        <p:txBody>
          <a:bodyPr wrap="square" rtlCol="0">
            <a:spAutoFit/>
          </a:bodyPr>
          <a:lstStyle/>
          <a:p>
            <a:r>
              <a:rPr lang="en-US" b="1" dirty="0">
                <a:latin typeface="Arial Black" panose="020B0A04020102020204" pitchFamily="34" charset="0"/>
              </a:rPr>
              <a:t>AICTE STU ID : </a:t>
            </a:r>
            <a:r>
              <a:rPr lang="en-IN" dirty="0">
                <a:latin typeface="Arial Black" panose="020B0A04020102020204" pitchFamily="34" charset="0"/>
              </a:rPr>
              <a:t>STU6927e3191c35b1764221721 </a:t>
            </a:r>
            <a:endParaRPr lang="en-US" b="1" dirty="0">
              <a:latin typeface="Arial Black" panose="020B0A04020102020204" pitchFamily="34" charset="0"/>
            </a:endParaRPr>
          </a:p>
        </p:txBody>
      </p:sp>
      <p:sp>
        <p:nvSpPr>
          <p:cNvPr id="5" name="Rectangle 4">
            <a:extLst>
              <a:ext uri="{FF2B5EF4-FFF2-40B4-BE49-F238E27FC236}">
                <a16:creationId xmlns:a16="http://schemas.microsoft.com/office/drawing/2014/main" id="{11951FAF-083A-FF05-074D-4459B0CE980F}"/>
              </a:ext>
            </a:extLst>
          </p:cNvPr>
          <p:cNvSpPr/>
          <p:nvPr/>
        </p:nvSpPr>
        <p:spPr>
          <a:xfrm>
            <a:off x="503853" y="6410131"/>
            <a:ext cx="2323323" cy="28924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8FAEB3CB-81D7-4AA9-2B07-3177D3CC0FF3}"/>
              </a:ext>
            </a:extLst>
          </p:cNvPr>
          <p:cNvSpPr txBox="1"/>
          <p:nvPr/>
        </p:nvSpPr>
        <p:spPr>
          <a:xfrm>
            <a:off x="1856790" y="3583750"/>
            <a:ext cx="6718041" cy="400110"/>
          </a:xfrm>
          <a:prstGeom prst="rect">
            <a:avLst/>
          </a:prstGeom>
          <a:noFill/>
        </p:spPr>
        <p:txBody>
          <a:bodyPr wrap="square" rtlCol="0">
            <a:spAutoFit/>
          </a:bodyPr>
          <a:lstStyle/>
          <a:p>
            <a:r>
              <a:rPr lang="en-IN" sz="2000" dirty="0">
                <a:latin typeface="Arial Black" panose="020B0A04020102020204" pitchFamily="34" charset="0"/>
                <a:cs typeface="Times New Roman" panose="02020603050405020304" pitchFamily="18" charset="0"/>
              </a:rPr>
              <a:t>STUDENT NAME : AKSHIT VAUTREY</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2267339"/>
            <a:ext cx="6828557" cy="3517641"/>
          </a:xfrm>
        </p:spPr>
        <p:txBody>
          <a:bodyPr vert="horz" lIns="91440" tIns="45720" rIns="91440" bIns="45720" rtlCol="0" anchor="t">
            <a:noAutofit/>
          </a:bodyPr>
          <a:lstStyle/>
          <a:p>
            <a:pPr marL="0" indent="0" algn="just">
              <a:spcAft>
                <a:spcPts val="800"/>
              </a:spcAft>
              <a:buNone/>
            </a:pPr>
            <a:r>
              <a:rPr lang="en-US" sz="1600" b="1" dirty="0">
                <a:latin typeface="Arial Black" panose="020B0A04020102020204" pitchFamily="34"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1600" b="1" dirty="0">
              <a:latin typeface="Arial Black" panose="020B0A04020102020204" pitchFamily="34"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7" y="193040"/>
            <a:ext cx="8614231" cy="6012173"/>
          </a:xfrm>
        </p:spPr>
        <p:txBody>
          <a:bodyPr>
            <a:normAutofit/>
          </a:bodyPr>
          <a:lstStyle/>
          <a:p>
            <a:r>
              <a:rPr lang="en-GB" sz="2800" b="1" dirty="0"/>
              <a:t>   </a:t>
            </a:r>
            <a:r>
              <a:rPr lang="en-GB" sz="3600" b="1" dirty="0"/>
              <a:t>Project Description</a:t>
            </a:r>
            <a:br>
              <a:rPr lang="en-GB" sz="3600" dirty="0"/>
            </a:br>
            <a:br>
              <a:rPr lang="en-GB" sz="2800" dirty="0"/>
            </a:br>
            <a:br>
              <a:rPr lang="en-GB" sz="2800" dirty="0"/>
            </a:br>
            <a:r>
              <a:rPr lang="en-IN" sz="1400" b="0" dirty="0">
                <a:latin typeface="Arial Rounded MT Bold" panose="020F0704030504030204" pitchFamily="34" charset="0"/>
              </a:rPr>
              <a:t>This project performs an end-to-end data analytics study on a seasonal agriculture performance dataset of 4,000 farm-level records across 28 variables, covering location, crop, season, environmental conditions, farming practices, resource usage and economic outcomes.</a:t>
            </a:r>
            <a:br>
              <a:rPr lang="en-IN" sz="1400" b="0" dirty="0">
                <a:latin typeface="Arial Rounded MT Bold" panose="020F0704030504030204" pitchFamily="34" charset="0"/>
              </a:rPr>
            </a:br>
            <a:endParaRPr lang="en-IN" sz="1400" b="0" dirty="0">
              <a:latin typeface="Arial Rounded MT Bold" panose="020F0704030504030204" pitchFamily="34" charset="0"/>
            </a:endParaRPr>
          </a:p>
          <a:p>
            <a:pPr>
              <a:spcAft>
                <a:spcPts val="800"/>
              </a:spcAft>
            </a:pPr>
            <a:r>
              <a:rPr lang="en-IN" sz="1400" b="0" dirty="0">
                <a:latin typeface="Arial Rounded MT Bold" panose="020F0704030504030204" pitchFamily="34" charset="0"/>
              </a:rPr>
              <a:t>The workflow includes data cleaning (missing values, duplicates), descriptive statistics, univariate/bivariate/multivariate analysis, IQR-based outlier investigation, correlation analysis, and structured seasonal comparisons across crop, irrigation method, region and risk level.</a:t>
            </a:r>
            <a:br>
              <a:rPr lang="en-IN" sz="1400" b="0" dirty="0">
                <a:latin typeface="Arial Rounded MT Bold" panose="020F0704030504030204" pitchFamily="34" charset="0"/>
              </a:rPr>
            </a:br>
            <a:endParaRPr lang="en-IN" sz="1400" b="0" dirty="0">
              <a:latin typeface="Arial Rounded MT Bold" panose="020F0704030504030204" pitchFamily="34" charset="0"/>
            </a:endParaRPr>
          </a:p>
          <a:p>
            <a:pPr>
              <a:spcAft>
                <a:spcPts val="0"/>
              </a:spcAft>
            </a:pPr>
            <a:r>
              <a:rPr lang="en-IN" sz="1400" b="0" dirty="0">
                <a:latin typeface="Arial Rounded MT Bold" panose="020F0704030504030204" pitchFamily="34" charset="0"/>
              </a:rPr>
              <a:t>The analysis explains why performance changes across seasons — e.g. crop selection driving profitability more than season alone, Drip irrigation outperforming other methods, and the Zaid season being the only unprofitable one — and translates these findings into evidence-based recommendations.</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814527" cy="3990023"/>
          </a:xfrm>
        </p:spPr>
        <p:txBody>
          <a:bodyPr>
            <a:noAutofit/>
          </a:bodyPr>
          <a:lstStyle/>
          <a:p>
            <a:pPr marL="285750" indent="-285750">
              <a:spcAft>
                <a:spcPts val="800"/>
              </a:spcAft>
              <a:buFont typeface="Arial"/>
              <a:buChar char="•"/>
            </a:pPr>
            <a:r>
              <a:rPr lang="en-IN" dirty="0">
                <a:latin typeface="Arial Rounded MT Bold" panose="020F0704030504030204" pitchFamily="34" charset="0"/>
              </a:rPr>
              <a:t>Farmers — to choose crops, irrigation methods and timing that improve yield and profitability in their local season.</a:t>
            </a:r>
          </a:p>
          <a:p>
            <a:pPr marL="285750" indent="-285750">
              <a:spcAft>
                <a:spcPts val="800"/>
              </a:spcAft>
              <a:buFont typeface="Arial"/>
              <a:buChar char="•"/>
            </a:pPr>
            <a:r>
              <a:rPr lang="en-IN" dirty="0">
                <a:latin typeface="Arial Rounded MT Bold" panose="020F0704030504030204" pitchFamily="34" charset="0"/>
              </a:rPr>
              <a:t>Agricultural policy makers / government bodies — to design season-specific subsidy, credit and water-resource programs.</a:t>
            </a:r>
          </a:p>
          <a:p>
            <a:pPr marL="285750" indent="-285750">
              <a:spcAft>
                <a:spcPts val="800"/>
              </a:spcAft>
              <a:buFont typeface="Arial"/>
              <a:buChar char="•"/>
            </a:pPr>
            <a:r>
              <a:rPr lang="en-IN" dirty="0">
                <a:latin typeface="Arial Rounded MT Bold" panose="020F0704030504030204" pitchFamily="34" charset="0"/>
              </a:rPr>
              <a:t>Agricultural extension officers / advisors — to give region- and season-specific guidance to farmers.</a:t>
            </a:r>
          </a:p>
          <a:p>
            <a:pPr marL="285750" indent="-285750">
              <a:spcAft>
                <a:spcPts val="800"/>
              </a:spcAft>
              <a:buFont typeface="Arial"/>
              <a:buChar char="•"/>
            </a:pPr>
            <a:r>
              <a:rPr lang="en-IN" dirty="0">
                <a:latin typeface="Arial Rounded MT Bold" panose="020F0704030504030204" pitchFamily="34" charset="0"/>
              </a:rPr>
              <a:t>Agribusiness and crop insurance companies — to assess seasonal risk patterns for pricing and planning.</a:t>
            </a:r>
          </a:p>
          <a:p>
            <a:pPr marL="285750" indent="-285750">
              <a:spcAft>
                <a:spcPts val="0"/>
              </a:spcAft>
              <a:buFont typeface="Arial"/>
              <a:buChar char="•"/>
            </a:pPr>
            <a:r>
              <a:rPr lang="en-IN" dirty="0">
                <a:latin typeface="Arial Rounded MT Bold" panose="020F0704030504030204" pitchFamily="34" charset="0"/>
              </a:rPr>
              <a:t>Researchers and students — as a reference case study for applying data analytics to agricultural decision-making.</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872006" y="1040674"/>
            <a:ext cx="8858197" cy="4977901"/>
          </a:xfrm>
        </p:spPr>
        <p:txBody>
          <a:bodyPr>
            <a:normAutofit/>
          </a:bodyPr>
          <a:lstStyle/>
          <a:p>
            <a:pPr marL="285750" indent="-285750">
              <a:spcAft>
                <a:spcPts val="800"/>
              </a:spcAft>
              <a:buFont typeface="Arial"/>
              <a:buChar char="•"/>
            </a:pPr>
            <a:r>
              <a:rPr lang="en-IN" sz="1800" b="1" dirty="0">
                <a:latin typeface="Arial Rounded MT Bold" panose="020F0704030504030204" pitchFamily="34" charset="0"/>
              </a:rPr>
              <a:t>Language </a:t>
            </a:r>
            <a:r>
              <a:rPr lang="en-IN" sz="1800" dirty="0">
                <a:latin typeface="Arial Rounded MT Bold" panose="020F0704030504030204" pitchFamily="34" charset="0"/>
              </a:rPr>
              <a:t>: Python</a:t>
            </a:r>
          </a:p>
          <a:p>
            <a:pPr marL="285750" indent="-285750">
              <a:spcAft>
                <a:spcPts val="800"/>
              </a:spcAft>
              <a:buFont typeface="Arial"/>
              <a:buChar char="•"/>
            </a:pPr>
            <a:r>
              <a:rPr lang="en-IN" sz="1800" dirty="0">
                <a:latin typeface="Arial Rounded MT Bold" panose="020F0704030504030204" pitchFamily="34" charset="0"/>
              </a:rPr>
              <a:t>Data handling : Pandas, NumPy</a:t>
            </a:r>
          </a:p>
          <a:p>
            <a:pPr marL="285750" indent="-285750">
              <a:spcAft>
                <a:spcPts val="800"/>
              </a:spcAft>
              <a:buFont typeface="Arial"/>
              <a:buChar char="•"/>
            </a:pPr>
            <a:r>
              <a:rPr lang="en-IN" sz="1800" dirty="0">
                <a:latin typeface="Arial Rounded MT Bold" panose="020F0704030504030204" pitchFamily="34" charset="0"/>
              </a:rPr>
              <a:t>Data visualization : Matplotlib, Seaborn</a:t>
            </a:r>
          </a:p>
          <a:p>
            <a:pPr marL="285750" indent="-285750">
              <a:spcAft>
                <a:spcPts val="800"/>
              </a:spcAft>
              <a:buFont typeface="Arial"/>
              <a:buChar char="•"/>
            </a:pPr>
            <a:r>
              <a:rPr lang="en-IN" sz="1800" dirty="0">
                <a:latin typeface="Arial Rounded MT Bold" panose="020F0704030504030204" pitchFamily="34" charset="0"/>
              </a:rPr>
              <a:t>Development environment : Jupyter Notebook / vs code</a:t>
            </a:r>
          </a:p>
          <a:p>
            <a:pPr marL="285750" indent="-285750">
              <a:spcAft>
                <a:spcPts val="0"/>
              </a:spcAft>
              <a:buFont typeface="Arial"/>
              <a:buChar char="•"/>
            </a:pPr>
            <a:r>
              <a:rPr lang="en-IN" sz="1800" dirty="0">
                <a:latin typeface="Arial Rounded MT Bold" panose="020F0704030504030204" pitchFamily="34" charset="0"/>
              </a:rPr>
              <a:t>Analytical techniques : descriptive stats, IQR outlier detection, correlation analysis, univariate/bivariate/multivariate analysis, seasonal comparisons.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fontScale="90000"/>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A543583-CE33-A4EB-BB7B-8F5676FC1C6A}"/>
              </a:ext>
            </a:extLst>
          </p:cNvPr>
          <p:cNvPicPr>
            <a:picLocks noChangeAspect="1"/>
          </p:cNvPicPr>
          <p:nvPr/>
        </p:nvPicPr>
        <p:blipFill>
          <a:blip r:embed="rId3"/>
          <a:stretch>
            <a:fillRect/>
          </a:stretch>
        </p:blipFill>
        <p:spPr>
          <a:xfrm>
            <a:off x="320982" y="1201586"/>
            <a:ext cx="6107810" cy="5463374"/>
          </a:xfrm>
          <a:prstGeom prst="rect">
            <a:avLst/>
          </a:prstGeom>
        </p:spPr>
      </p:pic>
      <p:pic>
        <p:nvPicPr>
          <p:cNvPr id="9" name="Picture 8">
            <a:extLst>
              <a:ext uri="{FF2B5EF4-FFF2-40B4-BE49-F238E27FC236}">
                <a16:creationId xmlns:a16="http://schemas.microsoft.com/office/drawing/2014/main" id="{E778DEB6-8E3A-6771-37C6-4F68A3758F4E}"/>
              </a:ext>
            </a:extLst>
          </p:cNvPr>
          <p:cNvPicPr>
            <a:picLocks noChangeAspect="1"/>
          </p:cNvPicPr>
          <p:nvPr/>
        </p:nvPicPr>
        <p:blipFill>
          <a:blip r:embed="rId4"/>
          <a:stretch>
            <a:fillRect/>
          </a:stretch>
        </p:blipFill>
        <p:spPr>
          <a:xfrm>
            <a:off x="6568750" y="1091682"/>
            <a:ext cx="5302268" cy="557327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F0707F06-9DB9-1E9E-0E4A-12106DF07289}"/>
              </a:ext>
            </a:extLst>
          </p:cNvPr>
          <p:cNvPicPr>
            <a:picLocks noChangeAspect="1"/>
          </p:cNvPicPr>
          <p:nvPr/>
        </p:nvPicPr>
        <p:blipFill>
          <a:blip r:embed="rId3"/>
          <a:stretch>
            <a:fillRect/>
          </a:stretch>
        </p:blipFill>
        <p:spPr>
          <a:xfrm>
            <a:off x="242467" y="1396992"/>
            <a:ext cx="6037036" cy="5267967"/>
          </a:xfrm>
          <a:prstGeom prst="rect">
            <a:avLst/>
          </a:prstGeom>
        </p:spPr>
      </p:pic>
      <p:pic>
        <p:nvPicPr>
          <p:cNvPr id="12" name="Picture 11">
            <a:extLst>
              <a:ext uri="{FF2B5EF4-FFF2-40B4-BE49-F238E27FC236}">
                <a16:creationId xmlns:a16="http://schemas.microsoft.com/office/drawing/2014/main" id="{08F1F5A9-D02F-DB46-B1F1-0E16166367FA}"/>
              </a:ext>
            </a:extLst>
          </p:cNvPr>
          <p:cNvPicPr>
            <a:picLocks noChangeAspect="1"/>
          </p:cNvPicPr>
          <p:nvPr/>
        </p:nvPicPr>
        <p:blipFill>
          <a:blip r:embed="rId4"/>
          <a:stretch>
            <a:fillRect/>
          </a:stretch>
        </p:blipFill>
        <p:spPr>
          <a:xfrm>
            <a:off x="6479385" y="1396992"/>
            <a:ext cx="5470148" cy="526796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58FC945-A2B3-7B00-90BB-E27DB0F2A976}"/>
              </a:ext>
            </a:extLst>
          </p:cNvPr>
          <p:cNvPicPr>
            <a:picLocks noChangeAspect="1"/>
          </p:cNvPicPr>
          <p:nvPr/>
        </p:nvPicPr>
        <p:blipFill>
          <a:blip r:embed="rId3"/>
          <a:stretch>
            <a:fillRect/>
          </a:stretch>
        </p:blipFill>
        <p:spPr>
          <a:xfrm>
            <a:off x="320982" y="1275371"/>
            <a:ext cx="5380022" cy="5389589"/>
          </a:xfrm>
          <a:prstGeom prst="rect">
            <a:avLst/>
          </a:prstGeom>
        </p:spPr>
      </p:pic>
      <p:pic>
        <p:nvPicPr>
          <p:cNvPr id="9" name="Picture 8">
            <a:extLst>
              <a:ext uri="{FF2B5EF4-FFF2-40B4-BE49-F238E27FC236}">
                <a16:creationId xmlns:a16="http://schemas.microsoft.com/office/drawing/2014/main" id="{F65AB7F9-1D99-652E-5CCF-C23A20939A77}"/>
              </a:ext>
            </a:extLst>
          </p:cNvPr>
          <p:cNvPicPr>
            <a:picLocks noChangeAspect="1"/>
          </p:cNvPicPr>
          <p:nvPr/>
        </p:nvPicPr>
        <p:blipFill>
          <a:blip r:embed="rId4"/>
          <a:stretch>
            <a:fillRect/>
          </a:stretch>
        </p:blipFill>
        <p:spPr>
          <a:xfrm>
            <a:off x="5872641" y="1275372"/>
            <a:ext cx="5855940" cy="538958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72B6749-18DE-70A2-A06D-C40F6612E2CC}"/>
              </a:ext>
            </a:extLst>
          </p:cNvPr>
          <p:cNvPicPr>
            <a:picLocks noChangeAspect="1"/>
          </p:cNvPicPr>
          <p:nvPr/>
        </p:nvPicPr>
        <p:blipFill>
          <a:blip r:embed="rId3"/>
          <a:stretch>
            <a:fillRect/>
          </a:stretch>
        </p:blipFill>
        <p:spPr>
          <a:xfrm>
            <a:off x="85012" y="1201586"/>
            <a:ext cx="6119845" cy="5463373"/>
          </a:xfrm>
          <a:prstGeom prst="rect">
            <a:avLst/>
          </a:prstGeom>
        </p:spPr>
      </p:pic>
      <p:pic>
        <p:nvPicPr>
          <p:cNvPr id="9" name="Picture 8">
            <a:extLst>
              <a:ext uri="{FF2B5EF4-FFF2-40B4-BE49-F238E27FC236}">
                <a16:creationId xmlns:a16="http://schemas.microsoft.com/office/drawing/2014/main" id="{3FED5F97-5518-F503-6805-F1399781A193}"/>
              </a:ext>
            </a:extLst>
          </p:cNvPr>
          <p:cNvPicPr>
            <a:picLocks noChangeAspect="1"/>
          </p:cNvPicPr>
          <p:nvPr/>
        </p:nvPicPr>
        <p:blipFill>
          <a:blip r:embed="rId4"/>
          <a:stretch>
            <a:fillRect/>
          </a:stretch>
        </p:blipFill>
        <p:spPr>
          <a:xfrm>
            <a:off x="6354147" y="1201586"/>
            <a:ext cx="5654351" cy="546337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8B8C450-A8F7-352C-6D51-6180D109424C}"/>
              </a:ext>
            </a:extLst>
          </p:cNvPr>
          <p:cNvPicPr>
            <a:picLocks noChangeAspect="1"/>
          </p:cNvPicPr>
          <p:nvPr/>
        </p:nvPicPr>
        <p:blipFill>
          <a:blip r:embed="rId3"/>
          <a:stretch>
            <a:fillRect/>
          </a:stretch>
        </p:blipFill>
        <p:spPr>
          <a:xfrm>
            <a:off x="149289" y="1201586"/>
            <a:ext cx="5803641" cy="5463374"/>
          </a:xfrm>
          <a:prstGeom prst="rect">
            <a:avLst/>
          </a:prstGeom>
        </p:spPr>
      </p:pic>
      <p:pic>
        <p:nvPicPr>
          <p:cNvPr id="12" name="Picture 11">
            <a:extLst>
              <a:ext uri="{FF2B5EF4-FFF2-40B4-BE49-F238E27FC236}">
                <a16:creationId xmlns:a16="http://schemas.microsoft.com/office/drawing/2014/main" id="{41DD220D-2DE3-C57C-2637-0CEB8F43D95C}"/>
              </a:ext>
            </a:extLst>
          </p:cNvPr>
          <p:cNvPicPr>
            <a:picLocks noChangeAspect="1"/>
          </p:cNvPicPr>
          <p:nvPr/>
        </p:nvPicPr>
        <p:blipFill>
          <a:blip r:embed="rId4"/>
          <a:stretch>
            <a:fillRect/>
          </a:stretch>
        </p:blipFill>
        <p:spPr>
          <a:xfrm>
            <a:off x="6067376" y="1201586"/>
            <a:ext cx="5918087" cy="546337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5486000" cy="460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spcAft>
                <a:spcPts val="600"/>
              </a:spcAft>
            </a:pPr>
            <a:endParaRPr lang="en-IN" sz="13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6385694" y="1275371"/>
            <a:ext cx="5486000" cy="460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spcAft>
                <a:spcPts val="600"/>
              </a:spcAft>
            </a:pPr>
            <a:endParaRPr lang="en-IN" sz="1300" dirty="0"/>
          </a:p>
        </p:txBody>
      </p:sp>
      <p:sp>
        <p:nvSpPr>
          <p:cNvPr id="3" name="TextBox 2">
            <a:extLst>
              <a:ext uri="{FF2B5EF4-FFF2-40B4-BE49-F238E27FC236}">
                <a16:creationId xmlns:a16="http://schemas.microsoft.com/office/drawing/2014/main" id="{1A909C28-1CE0-ADC3-3658-4FB25841CABA}"/>
              </a:ext>
            </a:extLst>
          </p:cNvPr>
          <p:cNvSpPr txBox="1"/>
          <p:nvPr/>
        </p:nvSpPr>
        <p:spPr>
          <a:xfrm>
            <a:off x="457201" y="1380931"/>
            <a:ext cx="5206481" cy="3893374"/>
          </a:xfrm>
          <a:prstGeom prst="rect">
            <a:avLst/>
          </a:prstGeom>
          <a:noFill/>
        </p:spPr>
        <p:txBody>
          <a:bodyPr wrap="square">
            <a:spAutoFit/>
          </a:bodyPr>
          <a:lstStyle/>
          <a:p>
            <a:pPr marL="342900" lvl="0" indent="-342900" algn="just">
              <a:buFont typeface="Arial" panose="020B0604020202020204" pitchFamily="34" charset="0"/>
              <a:buChar char="•"/>
            </a:pPr>
            <a:r>
              <a:rPr lang="en-IN" dirty="0">
                <a:latin typeface="Arial Rounded MT Bold" panose="020F0704030504030204" pitchFamily="34" charset="0"/>
                <a:cs typeface="Times New Roman" panose="02020603050405020304" pitchFamily="18" charset="0"/>
              </a:rPr>
              <a:t>Build predictive models (regression / machine learning) to forecast yield and profit based on season, crop, irrigation method and environmental conditions</a:t>
            </a:r>
          </a:p>
          <a:p>
            <a:pPr lvl="0" algn="just"/>
            <a:endParaRPr lang="en-IN" dirty="0">
              <a:latin typeface="Arial Rounded MT Bold" panose="020F0704030504030204" pitchFamily="34" charset="0"/>
              <a:cs typeface="Times New Roman" panose="02020603050405020304" pitchFamily="18" charset="0"/>
            </a:endParaRPr>
          </a:p>
          <a:p>
            <a:pPr lvl="0" algn="just"/>
            <a:endParaRPr lang="en-IN" sz="300" dirty="0">
              <a:latin typeface="Arial Rounded MT Bold" panose="020F0704030504030204" pitchFamily="34" charset="0"/>
              <a:cs typeface="Times New Roman" panose="02020603050405020304" pitchFamily="18" charset="0"/>
            </a:endParaRPr>
          </a:p>
          <a:p>
            <a:pPr lvl="0" algn="just"/>
            <a:endParaRPr lang="en-IN" sz="200" dirty="0">
              <a:latin typeface="Arial Rounded MT Bold" panose="020F0704030504030204" pitchFamily="34" charset="0"/>
              <a:cs typeface="Times New Roman" panose="02020603050405020304" pitchFamily="18" charset="0"/>
            </a:endParaRPr>
          </a:p>
          <a:p>
            <a:pPr marL="342900" lvl="0" indent="-342900" algn="just">
              <a:buFont typeface="Arial" panose="020B0604020202020204" pitchFamily="34" charset="0"/>
              <a:buChar char="•"/>
            </a:pPr>
            <a:r>
              <a:rPr lang="en-IN" dirty="0">
                <a:latin typeface="Arial Rounded MT Bold" panose="020F0704030504030204" pitchFamily="34" charset="0"/>
                <a:cs typeface="Times New Roman" panose="02020603050405020304" pitchFamily="18" charset="0"/>
              </a:rPr>
              <a:t>Incorporate real-time weather and soil-sensor data (via APIs) for more accurate, up-to-date seasonal predictions.</a:t>
            </a:r>
          </a:p>
          <a:p>
            <a:pPr lvl="0" algn="just"/>
            <a:endParaRPr lang="en-IN" dirty="0">
              <a:latin typeface="Arial Rounded MT Bold" panose="020F0704030504030204" pitchFamily="34" charset="0"/>
              <a:cs typeface="Times New Roman" panose="02020603050405020304" pitchFamily="18" charset="0"/>
            </a:endParaRPr>
          </a:p>
          <a:p>
            <a:pPr lvl="0" algn="just"/>
            <a:endParaRPr lang="en-IN" sz="200" dirty="0">
              <a:latin typeface="Arial Rounded MT Bold" panose="020F0704030504030204" pitchFamily="34" charset="0"/>
              <a:cs typeface="Times New Roman" panose="02020603050405020304" pitchFamily="18" charset="0"/>
            </a:endParaRPr>
          </a:p>
          <a:p>
            <a:pPr marL="342900" lvl="0" indent="-342900" algn="just">
              <a:buFont typeface="Arial" panose="020B0604020202020204" pitchFamily="34" charset="0"/>
              <a:buChar char="•"/>
            </a:pPr>
            <a:r>
              <a:rPr lang="en-IN" dirty="0">
                <a:latin typeface="Arial Rounded MT Bold" panose="020F0704030504030204" pitchFamily="34" charset="0"/>
                <a:cs typeface="Times New Roman" panose="02020603050405020304" pitchFamily="18" charset="0"/>
              </a:rPr>
              <a:t>Extend the analysis to a multi-year dataset to study year-over-year and climate-change-driven seasonal trends, not just a single-year snapshot.</a:t>
            </a:r>
          </a:p>
          <a:p>
            <a:pPr marL="342900" lvl="0" indent="-342900" algn="just">
              <a:buFont typeface="Arial" panose="020B0604020202020204" pitchFamily="34" charset="0"/>
              <a:buChar char="•"/>
            </a:pPr>
            <a:endParaRPr lang="en-IN" sz="300" dirty="0">
              <a:latin typeface="Arial Rounded MT Bold" panose="020F0704030504030204" pitchFamily="34" charset="0"/>
              <a:cs typeface="Times New Roman" panose="02020603050405020304" pitchFamily="18" charset="0"/>
            </a:endParaRPr>
          </a:p>
          <a:p>
            <a:pPr marL="342900" lvl="0" indent="-342900" algn="just">
              <a:buFont typeface="Arial" panose="020B0604020202020204" pitchFamily="34" charset="0"/>
              <a:buChar char="•"/>
            </a:pPr>
            <a:endParaRPr lang="en-IN" sz="300" dirty="0">
              <a:latin typeface="Arial Rounded MT Bold" panose="020F07040305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377FC3BE-BB2C-3461-3836-8488098FFB4F}"/>
              </a:ext>
            </a:extLst>
          </p:cNvPr>
          <p:cNvSpPr txBox="1"/>
          <p:nvPr/>
        </p:nvSpPr>
        <p:spPr>
          <a:xfrm>
            <a:off x="6580560" y="1380931"/>
            <a:ext cx="5290458" cy="4062651"/>
          </a:xfrm>
          <a:prstGeom prst="rect">
            <a:avLst/>
          </a:prstGeom>
          <a:noFill/>
        </p:spPr>
        <p:txBody>
          <a:bodyPr wrap="square">
            <a:spAutoFit/>
          </a:bodyPr>
          <a:lstStyle/>
          <a:p>
            <a:pPr marL="342900" lvl="0" indent="-342900" algn="just">
              <a:buFont typeface="Arial" panose="020B0604020202020204" pitchFamily="34" charset="0"/>
              <a:buChar char="•"/>
            </a:pPr>
            <a:r>
              <a:rPr lang="en-IN" sz="1800" dirty="0">
                <a:latin typeface="Arial Rounded MT Bold" panose="020F0704030504030204" pitchFamily="34" charset="0"/>
                <a:cs typeface="Times New Roman" panose="02020603050405020304" pitchFamily="18" charset="0"/>
              </a:rPr>
              <a:t>Develop a farmer-facing advisory dashboard that recommends the best crop and irrigation method for a given region and season.</a:t>
            </a:r>
          </a:p>
          <a:p>
            <a:pPr lvl="0" algn="just"/>
            <a:endParaRPr lang="en-IN" sz="1800" dirty="0">
              <a:latin typeface="Arial Rounded MT Bold" panose="020F0704030504030204" pitchFamily="34" charset="0"/>
              <a:cs typeface="Times New Roman" panose="02020603050405020304" pitchFamily="18" charset="0"/>
            </a:endParaRPr>
          </a:p>
          <a:p>
            <a:pPr marL="342900" lvl="0" indent="-342900" algn="just">
              <a:buFont typeface="Arial" panose="020B0604020202020204" pitchFamily="34" charset="0"/>
              <a:buChar char="•"/>
            </a:pPr>
            <a:endParaRPr lang="en-IN" sz="300" dirty="0">
              <a:latin typeface="Arial Rounded MT Bold" panose="020F0704030504030204" pitchFamily="34" charset="0"/>
              <a:cs typeface="Times New Roman" panose="02020603050405020304" pitchFamily="18" charset="0"/>
            </a:endParaRPr>
          </a:p>
          <a:p>
            <a:pPr marL="342900" lvl="0" indent="-342900" algn="just">
              <a:buFont typeface="Arial" panose="020B0604020202020204" pitchFamily="34" charset="0"/>
              <a:buChar char="•"/>
            </a:pPr>
            <a:r>
              <a:rPr lang="en-IN" sz="1800" dirty="0">
                <a:latin typeface="Arial Rounded MT Bold" panose="020F0704030504030204" pitchFamily="34" charset="0"/>
                <a:cs typeface="Times New Roman" panose="02020603050405020304" pitchFamily="18" charset="0"/>
              </a:rPr>
              <a:t>Add deeper regional analysis (district-level, soil-type-level) to explain </a:t>
            </a:r>
            <a:r>
              <a:rPr lang="en-IN" sz="1800" i="1" dirty="0">
                <a:latin typeface="Arial Rounded MT Bold" panose="020F0704030504030204" pitchFamily="34" charset="0"/>
                <a:cs typeface="Times New Roman" panose="02020603050405020304" pitchFamily="18" charset="0"/>
              </a:rPr>
              <a:t>why</a:t>
            </a:r>
            <a:r>
              <a:rPr lang="en-IN" sz="1800" dirty="0">
                <a:latin typeface="Arial Rounded MT Bold" panose="020F0704030504030204" pitchFamily="34" charset="0"/>
                <a:cs typeface="Times New Roman" panose="02020603050405020304" pitchFamily="18" charset="0"/>
              </a:rPr>
              <a:t> certain states like Punjab and Karnataka stay profitable even in the Zaid season.</a:t>
            </a:r>
          </a:p>
          <a:p>
            <a:pPr lvl="0" algn="just"/>
            <a:endParaRPr lang="en-IN" sz="1800" dirty="0">
              <a:latin typeface="Arial Rounded MT Bold" panose="020F0704030504030204" pitchFamily="34" charset="0"/>
              <a:cs typeface="Times New Roman" panose="02020603050405020304" pitchFamily="18" charset="0"/>
            </a:endParaRPr>
          </a:p>
          <a:p>
            <a:pPr lvl="0" algn="just"/>
            <a:endParaRPr lang="en-IN" sz="300" dirty="0">
              <a:latin typeface="Arial Rounded MT Bold" panose="020F0704030504030204" pitchFamily="34" charset="0"/>
              <a:cs typeface="Times New Roman" panose="02020603050405020304" pitchFamily="18" charset="0"/>
            </a:endParaRPr>
          </a:p>
          <a:p>
            <a:pPr marL="342900" lvl="0" indent="-342900" algn="just">
              <a:buFont typeface="Arial" panose="020B0604020202020204" pitchFamily="34" charset="0"/>
              <a:buChar char="•"/>
            </a:pPr>
            <a:r>
              <a:rPr lang="en-IN" sz="1800" dirty="0">
                <a:latin typeface="Arial Rounded MT Bold" panose="020F0704030504030204" pitchFamily="34" charset="0"/>
                <a:cs typeface="Times New Roman" panose="02020603050405020304" pitchFamily="18" charset="0"/>
              </a:rPr>
              <a:t>Integrate market-price forecasting to help farmers time their sales for better revenue, since this analysis showed price — not just yield — is a major profit driver.</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8" y="6476278"/>
            <a:ext cx="2094748" cy="188682"/>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490644"/>
            <a:ext cx="4628896" cy="710942"/>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3" y="1371599"/>
            <a:ext cx="3268086" cy="56984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5" y="1371599"/>
            <a:ext cx="3268086" cy="56984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AE6A0938-0160-D4AB-CE35-D8A81878C44E}"/>
              </a:ext>
            </a:extLst>
          </p:cNvPr>
          <p:cNvSpPr txBox="1"/>
          <p:nvPr/>
        </p:nvSpPr>
        <p:spPr>
          <a:xfrm>
            <a:off x="1385083" y="2761115"/>
            <a:ext cx="7581635" cy="707886"/>
          </a:xfrm>
          <a:prstGeom prst="rect">
            <a:avLst/>
          </a:prstGeom>
          <a:noFill/>
        </p:spPr>
        <p:txBody>
          <a:bodyPr wrap="square">
            <a:spAutoFit/>
          </a:bodyPr>
          <a:lstStyle/>
          <a:p>
            <a:r>
              <a:rPr lang="en-IN" sz="2000" dirty="0"/>
              <a:t>https://github.com/Vautrey-Akshit-123/Seasonal-Agriculture-Performance-Analysis.git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7E13321-BA44-D07F-F289-51508B40B959}"/>
              </a:ext>
            </a:extLst>
          </p:cNvPr>
          <p:cNvPicPr>
            <a:picLocks noChangeAspect="1"/>
          </p:cNvPicPr>
          <p:nvPr/>
        </p:nvPicPr>
        <p:blipFill>
          <a:blip r:embed="rId3"/>
          <a:stretch>
            <a:fillRect/>
          </a:stretch>
        </p:blipFill>
        <p:spPr>
          <a:xfrm>
            <a:off x="522514" y="1371600"/>
            <a:ext cx="10049070" cy="529336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83821" y="2895427"/>
            <a:ext cx="11340000" cy="700114"/>
          </a:xfrm>
          <a:prstGeom prst="rect">
            <a:avLst/>
          </a:prstGeom>
        </p:spPr>
        <p:txBody>
          <a:bodyPr anchor="ctr">
            <a:noAutofit/>
          </a:bodyPr>
          <a:lstStyle/>
          <a:p>
            <a:pPr algn="ctr"/>
            <a:r>
              <a:rPr lang="en-US" sz="96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1"/>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TM03457485[[fn=Mesh]]</Template>
  <TotalTime>742</TotalTime>
  <Words>568</Words>
  <Application>Microsoft Office PowerPoint</Application>
  <PresentationFormat>Widescreen</PresentationFormat>
  <Paragraphs>49</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Black</vt:lpstr>
      <vt:lpstr>Arial Rounded MT Bold</vt:lpstr>
      <vt:lpstr>Calibri</vt:lpstr>
      <vt:lpstr>Century Gothic</vt:lpstr>
      <vt:lpstr>Wingdings</vt:lpstr>
      <vt:lpstr>Mesh</vt:lpstr>
      <vt:lpstr>Seasonal Agriculture  Performance Analysis  </vt:lpstr>
      <vt:lpstr>PROBLEM  STATEMENT</vt:lpstr>
      <vt:lpstr>   Project Description   This project performs an end-to-end data analytics study on a seasonal agriculture performance dataset of 4,000 farm-level records across 28 variables, covering location, crop, season, environmental conditions, farming practices, resource usage and economic outcomes.  The workflow includes data cleaning (missing values, duplicates), descriptive statistics, univariate/bivariate/multivariate analysis, IQR-based outlier investigation, correlation analysis, and structured seasonal comparisons across crop, irrigation method, region and risk level.  The analysis explains why performance changes across seasons — e.g. crop selection driving profitability more than season alone, Drip irrigation outperforming other methods, and the Zaid season being the only unprofitable one — and translates these findings into evidence-based recommendations.</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AKSHIT VAUTREY</cp:lastModifiedBy>
  <cp:revision>98</cp:revision>
  <dcterms:created xsi:type="dcterms:W3CDTF">2021-07-11T13:13:15Z</dcterms:created>
  <dcterms:modified xsi:type="dcterms:W3CDTF">2026-09-09T11:11:22Z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